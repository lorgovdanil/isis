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5" r:id="rId4"/>
    <p:sldId id="258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63" r:id="rId17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1" autoAdjust="0"/>
    <p:restoredTop sz="94608" autoAdjust="0"/>
  </p:normalViewPr>
  <p:slideViewPr>
    <p:cSldViewPr>
      <p:cViewPr varScale="1">
        <p:scale>
          <a:sx n="47" d="100"/>
          <a:sy n="47" d="100"/>
        </p:scale>
        <p:origin x="-86" y="-8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6C7C42B-5FFE-4D44-BBB5-AB078492E219}" type="datetimeFigureOut">
              <a:rPr lang="ru-RU"/>
              <a:pPr>
                <a:defRPr/>
              </a:pPr>
              <a:t>17.03.2025</a:t>
            </a:fld>
            <a:endParaRPr lang="ru-RU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5407871-9FBF-4BBB-895A-2502942BAC5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6C7C42B-5FFE-4D44-BBB5-AB078492E219}" type="datetimeFigureOut">
              <a:rPr lang="ru-RU"/>
              <a:pPr>
                <a:defRPr/>
              </a:pPr>
              <a:t>17.03.2025</a:t>
            </a:fld>
            <a:endParaRPr lang="ru-RU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5407871-9FBF-4BBB-895A-2502942BAC5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6C7C42B-5FFE-4D44-BBB5-AB078492E219}" type="datetimeFigureOut">
              <a:rPr lang="ru-RU"/>
              <a:pPr>
                <a:defRPr/>
              </a:pPr>
              <a:t>17.03.2025</a:t>
            </a:fld>
            <a:endParaRPr lang="ru-RU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5407871-9FBF-4BBB-895A-2502942BAC5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6C7C42B-5FFE-4D44-BBB5-AB078492E219}" type="datetimeFigureOut">
              <a:rPr lang="ru-RU"/>
              <a:pPr>
                <a:defRPr/>
              </a:pPr>
              <a:t>17.03.2025</a:t>
            </a:fld>
            <a:endParaRPr lang="ru-RU"/>
          </a:p>
        </p:txBody>
      </p:sp>
      <p:sp>
        <p:nvSpPr>
          <p:cNvPr id="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5407871-9FBF-4BBB-895A-2502942BAC5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6C7C42B-5FFE-4D44-BBB5-AB078492E219}" type="datetimeFigureOut">
              <a:rPr lang="ru-RU"/>
              <a:pPr>
                <a:defRPr/>
              </a:pPr>
              <a:t>17.03.2025</a:t>
            </a:fld>
            <a:endParaRPr lang="ru-RU"/>
          </a:p>
        </p:txBody>
      </p:sp>
      <p:sp>
        <p:nvSpPr>
          <p:cNvPr id="10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5407871-9FBF-4BBB-895A-2502942BAC5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6C7C42B-5FFE-4D44-BBB5-AB078492E219}" type="datetimeFigureOut">
              <a:rPr lang="ru-RU"/>
              <a:pPr>
                <a:defRPr/>
              </a:pPr>
              <a:t>17.03.2025</a:t>
            </a:fld>
            <a:endParaRPr lang="ru-RU"/>
          </a:p>
        </p:txBody>
      </p:sp>
      <p:sp>
        <p:nvSpPr>
          <p:cNvPr id="6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5407871-9FBF-4BBB-895A-2502942BAC5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6C7C42B-5FFE-4D44-BBB5-AB078492E219}" type="datetimeFigureOut">
              <a:rPr lang="ru-RU"/>
              <a:pPr>
                <a:defRPr/>
              </a:pPr>
              <a:t>17.03.2025</a:t>
            </a:fld>
            <a:endParaRPr lang="ru-RU"/>
          </a:p>
        </p:txBody>
      </p:sp>
      <p:sp>
        <p:nvSpPr>
          <p:cNvPr id="5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5407871-9FBF-4BBB-895A-2502942BAC5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6C7C42B-5FFE-4D44-BBB5-AB078492E219}" type="datetimeFigureOut">
              <a:rPr lang="ru-RU"/>
              <a:pPr>
                <a:defRPr/>
              </a:pPr>
              <a:t>17.03.2025</a:t>
            </a:fld>
            <a:endParaRPr lang="ru-RU"/>
          </a:p>
        </p:txBody>
      </p:sp>
      <p:sp>
        <p:nvSpPr>
          <p:cNvPr id="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5407871-9FBF-4BBB-895A-2502942BAC5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6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6C7C42B-5FFE-4D44-BBB5-AB078492E219}" type="datetimeFigureOut">
              <a:rPr lang="ru-RU"/>
              <a:pPr>
                <a:defRPr/>
              </a:pPr>
              <a:t>17.03.2025</a:t>
            </a:fld>
            <a:endParaRPr lang="ru-RU"/>
          </a:p>
        </p:txBody>
      </p:sp>
      <p:sp>
        <p:nvSpPr>
          <p:cNvPr id="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5407871-9FBF-4BBB-895A-2502942BAC5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6C7C42B-5FFE-4D44-BBB5-AB078492E219}" type="datetimeFigureOut">
              <a:rPr lang="ru-RU"/>
              <a:pPr>
                <a:defRPr/>
              </a:pPr>
              <a:t>17.03.2025</a:t>
            </a:fld>
            <a:endParaRPr lang="ru-RU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5407871-9FBF-4BBB-895A-2502942BAC5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6C7C42B-5FFE-4D44-BBB5-AB078492E219}" type="datetimeFigureOut">
              <a:rPr lang="ru-RU"/>
              <a:pPr>
                <a:defRPr/>
              </a:pPr>
              <a:t>17.03.2025</a:t>
            </a:fld>
            <a:endParaRPr lang="ru-RU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5407871-9FBF-4BBB-895A-2502942BAC5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6C7C42B-5FFE-4D44-BBB5-AB078492E219}" type="datetimeFigureOut">
              <a:rPr lang="ru-RU"/>
              <a:pPr>
                <a:defRPr/>
              </a:pPr>
              <a:t>17.03.2025</a:t>
            </a:fld>
            <a:endParaRPr lang="ru-RU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5407871-9FBF-4BBB-895A-2502942BAC5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billing.pstu.ru/api.php?r=site/login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81818B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TextBox 16"/>
          <p:cNvSpPr/>
          <p:nvPr/>
        </p:nvSpPr>
        <p:spPr bwMode="auto">
          <a:xfrm>
            <a:off x="7517004" y="5846324"/>
            <a:ext cx="44277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0"/>
              </a:spcBef>
              <a:defRPr/>
            </a:pPr>
            <a:r>
              <a:rPr lang="ru-RU" sz="1400" b="1" dirty="0">
                <a:solidFill>
                  <a:schemeClr val="bg1"/>
                </a:solidFill>
                <a:latin typeface="Roboto Medium"/>
                <a:cs typeface="Arial"/>
              </a:rPr>
              <a:t>Докладчики: </a:t>
            </a:r>
            <a:br>
              <a:rPr lang="ru-RU" sz="1400" b="1" dirty="0">
                <a:solidFill>
                  <a:schemeClr val="bg1"/>
                </a:solidFill>
                <a:latin typeface="Roboto Medium"/>
                <a:cs typeface="Arial"/>
              </a:rPr>
            </a:br>
            <a:r>
              <a:rPr lang="ru-RU" sz="1400" b="1" dirty="0">
                <a:solidFill>
                  <a:schemeClr val="bg1"/>
                </a:solidFill>
                <a:latin typeface="Roboto Medium"/>
                <a:cs typeface="Arial"/>
              </a:rPr>
              <a:t>Д.С. </a:t>
            </a:r>
            <a:r>
              <a:rPr lang="ru-RU" sz="1400" b="1" dirty="0" err="1">
                <a:solidFill>
                  <a:schemeClr val="bg1"/>
                </a:solidFill>
                <a:latin typeface="Roboto Medium"/>
                <a:cs typeface="Arial"/>
              </a:rPr>
              <a:t>Лоргов</a:t>
            </a:r>
            <a:r>
              <a:rPr lang="ru-RU" sz="1400" b="1" dirty="0">
                <a:solidFill>
                  <a:schemeClr val="bg1"/>
                </a:solidFill>
                <a:latin typeface="Roboto Medium"/>
                <a:cs typeface="Arial"/>
              </a:rPr>
              <a:t>, студент ИСТ-23-2б</a:t>
            </a:r>
          </a:p>
          <a:p>
            <a:pPr lvl="0">
              <a:spcBef>
                <a:spcPts val="0"/>
              </a:spcBef>
              <a:defRPr/>
            </a:pPr>
            <a:r>
              <a:rPr lang="ru-RU" sz="1400" b="1" dirty="0">
                <a:solidFill>
                  <a:schemeClr val="bg1"/>
                </a:solidFill>
                <a:latin typeface="Roboto Medium"/>
                <a:cs typeface="Arial"/>
              </a:rPr>
              <a:t>Д.А. Кушаков, студент ИСТ-23-2б</a:t>
            </a:r>
            <a:endParaRPr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/>
          <a:stretch/>
        </p:blipFill>
        <p:spPr bwMode="auto">
          <a:xfrm>
            <a:off x="9122055" y="352185"/>
            <a:ext cx="2557011" cy="649763"/>
          </a:xfrm>
          <a:prstGeom prst="rect">
            <a:avLst/>
          </a:prstGeom>
        </p:spPr>
      </p:pic>
      <p:pic>
        <p:nvPicPr>
          <p:cNvPr id="12" name="Рисунок 4"/>
          <p:cNvPicPr>
            <a:picLocks noChangeAspect="1"/>
          </p:cNvPicPr>
          <p:nvPr/>
        </p:nvPicPr>
        <p:blipFill>
          <a:blip r:embed="rId3" cstate="print"/>
          <a:stretch/>
        </p:blipFill>
        <p:spPr bwMode="auto">
          <a:xfrm>
            <a:off x="3287688" y="4581727"/>
            <a:ext cx="3270539" cy="2276273"/>
          </a:xfrm>
          <a:prstGeom prst="rect">
            <a:avLst/>
          </a:prstGeom>
        </p:spPr>
      </p:pic>
      <p:pic>
        <p:nvPicPr>
          <p:cNvPr id="13" name="Рисунок 6"/>
          <p:cNvPicPr>
            <a:picLocks noChangeAspect="1"/>
          </p:cNvPicPr>
          <p:nvPr/>
        </p:nvPicPr>
        <p:blipFill>
          <a:blip r:embed="rId4" cstate="print"/>
          <a:stretch/>
        </p:blipFill>
        <p:spPr bwMode="auto">
          <a:xfrm>
            <a:off x="0" y="4590066"/>
            <a:ext cx="3278221" cy="2267934"/>
          </a:xfrm>
          <a:prstGeom prst="rect">
            <a:avLst/>
          </a:prstGeom>
        </p:spPr>
      </p:pic>
      <p:sp>
        <p:nvSpPr>
          <p:cNvPr id="15" name="TextBox 16"/>
          <p:cNvSpPr/>
          <p:nvPr/>
        </p:nvSpPr>
        <p:spPr bwMode="auto">
          <a:xfrm>
            <a:off x="191344" y="2780928"/>
            <a:ext cx="8064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0"/>
              </a:spcBef>
              <a:defRPr/>
            </a:pPr>
            <a:r>
              <a:rPr lang="ru-RU" sz="2400" b="1" dirty="0">
                <a:solidFill>
                  <a:schemeClr val="bg1"/>
                </a:solidFill>
                <a:latin typeface="Roboto Medium"/>
              </a:rPr>
              <a:t>«Способы перехвата HTTPS-трафика, MITM-атака»</a:t>
            </a:r>
            <a:r>
              <a:rPr lang="en-US" sz="2400" b="1" dirty="0">
                <a:solidFill>
                  <a:schemeClr val="bg1"/>
                </a:solidFill>
                <a:latin typeface="Roboto Medium"/>
              </a:rPr>
              <a:t> </a:t>
            </a:r>
            <a:r>
              <a:rPr lang="ru-RU" sz="2400" b="1" dirty="0">
                <a:solidFill>
                  <a:schemeClr val="bg1"/>
                </a:solidFill>
                <a:latin typeface="Roboto Medium"/>
              </a:rPr>
              <a:t>по дисциплине</a:t>
            </a:r>
            <a:r>
              <a:rPr lang="en-US" sz="2400" b="1" dirty="0">
                <a:solidFill>
                  <a:schemeClr val="bg1"/>
                </a:solidFill>
                <a:latin typeface="Roboto Medium"/>
              </a:rPr>
              <a:t> </a:t>
            </a:r>
            <a:r>
              <a:rPr lang="ru-RU" sz="2400" b="1" dirty="0">
                <a:solidFill>
                  <a:schemeClr val="bg1"/>
                </a:solidFill>
                <a:latin typeface="Roboto Medium"/>
              </a:rPr>
              <a:t>«</a:t>
            </a:r>
            <a:r>
              <a:rPr lang="ru-RU" sz="2400" b="1" dirty="0" err="1">
                <a:solidFill>
                  <a:schemeClr val="bg1"/>
                </a:solidFill>
                <a:latin typeface="Roboto Medium"/>
              </a:rPr>
              <a:t>Инфокоммуникационные</a:t>
            </a:r>
            <a:r>
              <a:rPr lang="ru-RU" sz="2400" b="1" dirty="0">
                <a:solidFill>
                  <a:schemeClr val="bg1"/>
                </a:solidFill>
                <a:latin typeface="Roboto Medium"/>
              </a:rPr>
              <a:t> системы и сети»</a:t>
            </a:r>
          </a:p>
        </p:txBody>
      </p:sp>
      <p:pic>
        <p:nvPicPr>
          <p:cNvPr id="9" name="Рисунок 13"/>
          <p:cNvPicPr>
            <a:picLocks noChangeAspect="1"/>
          </p:cNvPicPr>
          <p:nvPr/>
        </p:nvPicPr>
        <p:blipFill>
          <a:blip r:embed="rId5" cstate="print"/>
          <a:stretch/>
        </p:blipFill>
        <p:spPr bwMode="auto">
          <a:xfrm>
            <a:off x="3287688" y="0"/>
            <a:ext cx="3287688" cy="2311080"/>
          </a:xfrm>
          <a:prstGeom prst="rect">
            <a:avLst/>
          </a:prstGeom>
        </p:spPr>
      </p:pic>
      <p:pic>
        <p:nvPicPr>
          <p:cNvPr id="11" name="Рисунок 8" descr="1111111.jpg"/>
          <p:cNvPicPr>
            <a:picLocks noChangeAspect="1"/>
          </p:cNvPicPr>
          <p:nvPr/>
        </p:nvPicPr>
        <p:blipFill>
          <a:blip r:embed="rId6" cstate="print"/>
          <a:stretch/>
        </p:blipFill>
        <p:spPr bwMode="auto">
          <a:xfrm>
            <a:off x="0" y="0"/>
            <a:ext cx="3278221" cy="23151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2"/>
          <p:cNvPicPr>
            <a:picLocks noChangeAspect="1"/>
          </p:cNvPicPr>
          <p:nvPr/>
        </p:nvPicPr>
        <p:blipFill>
          <a:blip r:embed="rId2" cstate="print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3"/>
          <p:cNvSpPr/>
          <p:nvPr/>
        </p:nvSpPr>
        <p:spPr bwMode="auto">
          <a:xfrm>
            <a:off x="7883611" y="783064"/>
            <a:ext cx="4152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000" b="1" dirty="0">
                <a:solidFill>
                  <a:schemeClr val="bg1"/>
                </a:solidFill>
                <a:latin typeface="Roboto Medium"/>
              </a:rPr>
              <a:t>ТЕОРИЯ</a:t>
            </a:r>
            <a:endParaRPr dirty="0"/>
          </a:p>
        </p:txBody>
      </p:sp>
      <p:sp>
        <p:nvSpPr>
          <p:cNvPr id="6" name="TextBox 17"/>
          <p:cNvSpPr/>
          <p:nvPr/>
        </p:nvSpPr>
        <p:spPr bwMode="auto">
          <a:xfrm>
            <a:off x="291012" y="2136225"/>
            <a:ext cx="590465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Атака «человек посередине» (Man-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</a:t>
            </a: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-Middle) — это форма кибератаки, при которой для перехвата данных используются методы, позволяющие внедриться в существующее подключение или процесс связи. </a:t>
            </a:r>
            <a:endParaRPr lang="en-US" b="0" i="0" dirty="0">
              <a:solidFill>
                <a:srgbClr val="333333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defRPr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Злоумышленник может быть пассивным слушателем в вашем разговоре, незаметно крадущим какие-то сведения, или активным участником, изменяя содержание ваших сообщений или выдавая себя за человека или систему, с которыми вы, по вашему мнению, разговариваете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.</a:t>
            </a:r>
            <a:endParaRPr lang="ru-RU" dirty="0">
              <a:latin typeface="Roboto"/>
              <a:ea typeface="Roboto"/>
              <a:cs typeface="Roboto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F4DD89E6-F505-7BB3-3C07-02E28D91B1A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56040" y="2132856"/>
            <a:ext cx="5023906" cy="29523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="" xmlns:a16="http://schemas.microsoft.com/office/drawing/2014/main" id="{87432DC3-FBA0-7E5A-8903-2C9440229DB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2">
            <a:extLst>
              <a:ext uri="{FF2B5EF4-FFF2-40B4-BE49-F238E27FC236}">
                <a16:creationId xmlns="" xmlns:a16="http://schemas.microsoft.com/office/drawing/2014/main" id="{2FFC3FA4-A001-6364-8705-44DF932BFC2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/>
        </p:blipFill>
        <p:spPr bwMode="auto">
          <a:xfrm>
            <a:off x="-24680" y="0"/>
            <a:ext cx="12192000" cy="6880749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="" xmlns:a16="http://schemas.microsoft.com/office/drawing/2014/main" id="{A0C1951B-6FA3-6FF9-21F8-E62ACAD1F516}"/>
              </a:ext>
            </a:extLst>
          </p:cNvPr>
          <p:cNvSpPr/>
          <p:nvPr/>
        </p:nvSpPr>
        <p:spPr bwMode="auto">
          <a:xfrm>
            <a:off x="7883611" y="783064"/>
            <a:ext cx="4152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000" b="1" dirty="0">
                <a:solidFill>
                  <a:schemeClr val="bg1"/>
                </a:solidFill>
                <a:latin typeface="Roboto Medium"/>
              </a:rPr>
              <a:t>ТЕОРИЯ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C761B743-0EBE-55DF-2EC4-BC40E142AEE7}"/>
              </a:ext>
            </a:extLst>
          </p:cNvPr>
          <p:cNvSpPr txBox="1"/>
          <p:nvPr/>
        </p:nvSpPr>
        <p:spPr>
          <a:xfrm>
            <a:off x="983432" y="1916832"/>
            <a:ext cx="32403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Виды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MITM-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атак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 </a:t>
            </a:r>
            <a:r>
              <a:rPr lang="en-US" sz="18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ARP-</a:t>
            </a:r>
            <a:r>
              <a:rPr lang="ru-RU" sz="18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подмена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 </a:t>
            </a:r>
            <a:r>
              <a:rPr lang="ru-RU" sz="18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DNS-</a:t>
            </a:r>
            <a:r>
              <a:rPr lang="ru-RU" sz="1800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спойфинг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 </a:t>
            </a:r>
            <a:r>
              <a:rPr lang="ru-RU" sz="18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Атаки на </a:t>
            </a:r>
            <a:r>
              <a:rPr lang="ru-RU" sz="1800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</a:t>
            </a:r>
            <a:r>
              <a:rPr lang="ru-RU" sz="18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-Fi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 </a:t>
            </a:r>
            <a:r>
              <a:rPr lang="ru-RU" sz="18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SSL </a:t>
            </a:r>
            <a:r>
              <a:rPr lang="ru-RU" sz="1800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Stripping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 др.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="" xmlns:a16="http://schemas.microsoft.com/office/drawing/2014/main" id="{295CE051-5A50-19CB-2ECB-6F464B816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7768" y="1623367"/>
            <a:ext cx="3057524" cy="171985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="" xmlns:a16="http://schemas.microsoft.com/office/drawing/2014/main" id="{FA472C78-D1C7-2F03-C4EE-994AB8BE7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7768" y="4071010"/>
            <a:ext cx="3625787" cy="181289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8D73B1C6-5CFC-71C9-4CF9-11579EB7AC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="" xmlns:a14="http://schemas.microsoft.com/office/drawing/2010/main">
                  <a14:imgLayer r:embed="rId6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t="8580" b="-8580"/>
          <a:stretch/>
        </p:blipFill>
        <p:spPr>
          <a:xfrm>
            <a:off x="7931023" y="2222337"/>
            <a:ext cx="3906281" cy="225264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036413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2"/>
          <p:cNvPicPr>
            <a:picLocks noChangeAspect="1"/>
          </p:cNvPicPr>
          <p:nvPr/>
        </p:nvPicPr>
        <p:blipFill>
          <a:blip r:embed="rId2" cstate="print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3"/>
          <p:cNvSpPr/>
          <p:nvPr/>
        </p:nvSpPr>
        <p:spPr bwMode="auto">
          <a:xfrm>
            <a:off x="7883611" y="783064"/>
            <a:ext cx="4152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000" b="1" dirty="0">
                <a:solidFill>
                  <a:schemeClr val="bg1"/>
                </a:solidFill>
                <a:latin typeface="Roboto Medium"/>
                <a:ea typeface="Roboto"/>
                <a:cs typeface="Roboto"/>
              </a:rPr>
              <a:t>Практическая 1 часть</a:t>
            </a:r>
            <a:endParaRPr dirty="0"/>
          </a:p>
        </p:txBody>
      </p:sp>
      <p:pic>
        <p:nvPicPr>
          <p:cNvPr id="1029" name="Picture 5" descr="Cain &amp; Abe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16280" y="3284984"/>
            <a:ext cx="2160240" cy="2160240"/>
          </a:xfrm>
          <a:prstGeom prst="rect">
            <a:avLst/>
          </a:prstGeom>
          <a:noFill/>
        </p:spPr>
      </p:pic>
      <p:sp>
        <p:nvSpPr>
          <p:cNvPr id="15" name="TextBox 17"/>
          <p:cNvSpPr/>
          <p:nvPr/>
        </p:nvSpPr>
        <p:spPr bwMode="auto">
          <a:xfrm>
            <a:off x="263352" y="1772414"/>
            <a:ext cx="113052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latin typeface="Roboto"/>
                <a:ea typeface="Roboto"/>
                <a:cs typeface="Roboto"/>
              </a:rPr>
              <a:t>В одной локальной сети находятся два устройства, первое устройство – компьютер, проводящий MITM атаку, с </a:t>
            </a:r>
            <a:r>
              <a:rPr lang="en-US" dirty="0">
                <a:latin typeface="Roboto"/>
                <a:ea typeface="Roboto"/>
                <a:cs typeface="Roboto"/>
              </a:rPr>
              <a:t>IP </a:t>
            </a:r>
            <a:r>
              <a:rPr lang="ru-RU" dirty="0">
                <a:latin typeface="Roboto"/>
                <a:ea typeface="Roboto"/>
                <a:cs typeface="Roboto"/>
              </a:rPr>
              <a:t>адресом 192.168.31.75, второе устройство – компьютер жертва, с </a:t>
            </a:r>
            <a:r>
              <a:rPr lang="en-US" dirty="0">
                <a:latin typeface="Roboto"/>
                <a:ea typeface="Roboto"/>
                <a:cs typeface="Roboto"/>
              </a:rPr>
              <a:t>IP </a:t>
            </a:r>
            <a:r>
              <a:rPr lang="ru-RU" dirty="0">
                <a:latin typeface="Roboto"/>
                <a:ea typeface="Roboto"/>
                <a:cs typeface="Roboto"/>
              </a:rPr>
              <a:t>адресом 192.168.31.54.</a:t>
            </a:r>
          </a:p>
          <a:p>
            <a:pPr>
              <a:defRPr/>
            </a:pPr>
            <a:r>
              <a:rPr lang="ru-RU" dirty="0">
                <a:latin typeface="Roboto"/>
                <a:ea typeface="Roboto"/>
                <a:cs typeface="Roboto"/>
              </a:rPr>
              <a:t>Произведем </a:t>
            </a:r>
            <a:r>
              <a:rPr lang="en-US" dirty="0">
                <a:latin typeface="Roboto"/>
                <a:ea typeface="Roboto"/>
                <a:cs typeface="Roboto"/>
              </a:rPr>
              <a:t>MITM </a:t>
            </a:r>
            <a:r>
              <a:rPr lang="ru-RU" dirty="0">
                <a:latin typeface="Roboto"/>
                <a:ea typeface="Roboto"/>
                <a:cs typeface="Roboto"/>
              </a:rPr>
              <a:t>атаку через программу </a:t>
            </a:r>
            <a:r>
              <a:rPr lang="en-US" b="1" cap="all" dirty="0">
                <a:latin typeface="Roboto"/>
              </a:rPr>
              <a:t>Cain &amp; Abel</a:t>
            </a:r>
            <a:r>
              <a:rPr lang="en-US" dirty="0">
                <a:latin typeface="Roboto"/>
              </a:rPr>
              <a:t>.</a:t>
            </a:r>
            <a:endParaRPr lang="en-US" b="1" cap="all" dirty="0">
              <a:latin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2"/>
          <p:cNvPicPr>
            <a:picLocks noChangeAspect="1"/>
          </p:cNvPicPr>
          <p:nvPr/>
        </p:nvPicPr>
        <p:blipFill>
          <a:blip r:embed="rId2" cstate="print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3"/>
          <p:cNvSpPr/>
          <p:nvPr/>
        </p:nvSpPr>
        <p:spPr bwMode="auto">
          <a:xfrm>
            <a:off x="7883611" y="783064"/>
            <a:ext cx="4152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000" b="1" dirty="0">
                <a:solidFill>
                  <a:schemeClr val="bg1"/>
                </a:solidFill>
                <a:latin typeface="Roboto Medium"/>
                <a:ea typeface="Roboto"/>
                <a:cs typeface="Roboto"/>
              </a:rPr>
              <a:t>Практическая 1 часть</a:t>
            </a:r>
            <a:endParaRPr dirty="0"/>
          </a:p>
        </p:txBody>
      </p:sp>
      <p:sp>
        <p:nvSpPr>
          <p:cNvPr id="6" name="TextBox 17"/>
          <p:cNvSpPr/>
          <p:nvPr/>
        </p:nvSpPr>
        <p:spPr bwMode="auto">
          <a:xfrm>
            <a:off x="335361" y="2132856"/>
            <a:ext cx="25922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latin typeface="Roboto"/>
                <a:ea typeface="Roboto"/>
                <a:cs typeface="Roboto"/>
              </a:rPr>
              <a:t>В приложении выберем устройство, которое будет получать данные, а именно, первый компьютер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83632" y="1628800"/>
            <a:ext cx="9112250" cy="464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2"/>
          <p:cNvPicPr>
            <a:picLocks noChangeAspect="1"/>
          </p:cNvPicPr>
          <p:nvPr/>
        </p:nvPicPr>
        <p:blipFill>
          <a:blip r:embed="rId2" cstate="print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3"/>
          <p:cNvSpPr/>
          <p:nvPr/>
        </p:nvSpPr>
        <p:spPr bwMode="auto">
          <a:xfrm>
            <a:off x="7883611" y="783064"/>
            <a:ext cx="4152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000" b="1" dirty="0">
                <a:solidFill>
                  <a:schemeClr val="bg1"/>
                </a:solidFill>
                <a:latin typeface="Roboto Medium"/>
                <a:ea typeface="Roboto"/>
                <a:cs typeface="Roboto"/>
              </a:rPr>
              <a:t>Практическая 1 часть</a:t>
            </a:r>
            <a:endParaRPr dirty="0"/>
          </a:p>
        </p:txBody>
      </p:sp>
      <p:sp>
        <p:nvSpPr>
          <p:cNvPr id="6" name="TextBox 17"/>
          <p:cNvSpPr/>
          <p:nvPr/>
        </p:nvSpPr>
        <p:spPr bwMode="auto">
          <a:xfrm>
            <a:off x="335361" y="2132856"/>
            <a:ext cx="2448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latin typeface="Roboto"/>
                <a:ea typeface="Roboto"/>
                <a:cs typeface="Roboto"/>
              </a:rPr>
              <a:t>После, произведем сканирование сети на поиск жертв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83632" y="1628800"/>
            <a:ext cx="9093200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2"/>
          <p:cNvPicPr>
            <a:picLocks noChangeAspect="1"/>
          </p:cNvPicPr>
          <p:nvPr/>
        </p:nvPicPr>
        <p:blipFill>
          <a:blip r:embed="rId2" cstate="print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3"/>
          <p:cNvSpPr/>
          <p:nvPr/>
        </p:nvSpPr>
        <p:spPr bwMode="auto">
          <a:xfrm>
            <a:off x="7883611" y="783064"/>
            <a:ext cx="4152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000" b="1" dirty="0">
                <a:solidFill>
                  <a:schemeClr val="bg1"/>
                </a:solidFill>
                <a:latin typeface="Roboto Medium"/>
                <a:ea typeface="Roboto"/>
                <a:cs typeface="Roboto"/>
              </a:rPr>
              <a:t>Практическая 1 часть</a:t>
            </a:r>
            <a:endParaRPr dirty="0"/>
          </a:p>
        </p:txBody>
      </p:sp>
      <p:sp>
        <p:nvSpPr>
          <p:cNvPr id="6" name="TextBox 17"/>
          <p:cNvSpPr/>
          <p:nvPr/>
        </p:nvSpPr>
        <p:spPr bwMode="auto">
          <a:xfrm>
            <a:off x="335361" y="2132856"/>
            <a:ext cx="2448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latin typeface="Roboto"/>
                <a:ea typeface="Roboto"/>
                <a:cs typeface="Roboto"/>
              </a:rPr>
              <a:t>Дальше, перенаправим трафик жертвы на наше устройство 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11624" y="1628800"/>
            <a:ext cx="913765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2"/>
          <p:cNvPicPr>
            <a:picLocks noChangeAspect="1"/>
          </p:cNvPicPr>
          <p:nvPr/>
        </p:nvPicPr>
        <p:blipFill>
          <a:blip r:embed="rId2" cstate="print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3"/>
          <p:cNvSpPr/>
          <p:nvPr/>
        </p:nvSpPr>
        <p:spPr bwMode="auto">
          <a:xfrm>
            <a:off x="7883611" y="783064"/>
            <a:ext cx="4152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000" b="1" dirty="0">
                <a:solidFill>
                  <a:schemeClr val="bg1"/>
                </a:solidFill>
                <a:latin typeface="Roboto Medium"/>
                <a:ea typeface="Roboto"/>
                <a:cs typeface="Roboto"/>
              </a:rPr>
              <a:t>Практическая 1 часть</a:t>
            </a:r>
            <a:endParaRPr dirty="0"/>
          </a:p>
        </p:txBody>
      </p:sp>
      <p:sp>
        <p:nvSpPr>
          <p:cNvPr id="6" name="TextBox 17"/>
          <p:cNvSpPr/>
          <p:nvPr/>
        </p:nvSpPr>
        <p:spPr bwMode="auto">
          <a:xfrm>
            <a:off x="335361" y="2132856"/>
            <a:ext cx="24482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latin typeface="Roboto"/>
                <a:ea typeface="Roboto"/>
                <a:cs typeface="Roboto"/>
              </a:rPr>
              <a:t>После, начинаем сканировать сеть.</a:t>
            </a:r>
          </a:p>
          <a:p>
            <a:pPr>
              <a:defRPr/>
            </a:pPr>
            <a:r>
              <a:rPr lang="ru-RU" dirty="0">
                <a:latin typeface="Roboto"/>
                <a:ea typeface="Roboto"/>
                <a:cs typeface="Roboto"/>
              </a:rPr>
              <a:t>Снизу, видим пакеты, которые мы перехватили </a:t>
            </a: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11624" y="1628800"/>
            <a:ext cx="91186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2"/>
          <p:cNvPicPr>
            <a:picLocks noChangeAspect="1"/>
          </p:cNvPicPr>
          <p:nvPr/>
        </p:nvPicPr>
        <p:blipFill>
          <a:blip r:embed="rId2" cstate="print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3"/>
          <p:cNvSpPr/>
          <p:nvPr/>
        </p:nvSpPr>
        <p:spPr bwMode="auto">
          <a:xfrm>
            <a:off x="7883611" y="783064"/>
            <a:ext cx="4152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000" b="1" dirty="0">
                <a:solidFill>
                  <a:schemeClr val="bg1"/>
                </a:solidFill>
                <a:latin typeface="Roboto Medium"/>
                <a:ea typeface="Roboto"/>
                <a:cs typeface="Roboto"/>
              </a:rPr>
              <a:t>Практическая 1 часть</a:t>
            </a:r>
            <a:endParaRPr dirty="0"/>
          </a:p>
        </p:txBody>
      </p:sp>
      <p:sp>
        <p:nvSpPr>
          <p:cNvPr id="6" name="TextBox 17"/>
          <p:cNvSpPr/>
          <p:nvPr/>
        </p:nvSpPr>
        <p:spPr bwMode="auto">
          <a:xfrm>
            <a:off x="335361" y="2132856"/>
            <a:ext cx="24482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latin typeface="Roboto"/>
                <a:ea typeface="Roboto"/>
                <a:cs typeface="Roboto"/>
              </a:rPr>
              <a:t>К сожалению (или к счастью), данный способ является устаревшим, из-за чего, многие браузеры способны выявить данную атаку. ЯНДЕКС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99656" y="1562405"/>
            <a:ext cx="8424936" cy="4483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="" xmlns:a16="http://schemas.microsoft.com/office/drawing/2014/main" id="{219E95DA-4A15-1143-1E89-DCE4612B4554}"/>
              </a:ext>
            </a:extLst>
          </p:cNvPr>
          <p:cNvCxnSpPr>
            <a:cxnSpLocks/>
          </p:cNvCxnSpPr>
          <p:nvPr/>
        </p:nvCxnSpPr>
        <p:spPr bwMode="auto">
          <a:xfrm>
            <a:off x="5355869" y="3645024"/>
            <a:ext cx="536459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2"/>
          <p:cNvPicPr>
            <a:picLocks noChangeAspect="1"/>
          </p:cNvPicPr>
          <p:nvPr/>
        </p:nvPicPr>
        <p:blipFill>
          <a:blip r:embed="rId2" cstate="print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3"/>
          <p:cNvSpPr/>
          <p:nvPr/>
        </p:nvSpPr>
        <p:spPr bwMode="auto">
          <a:xfrm>
            <a:off x="7883611" y="783064"/>
            <a:ext cx="4152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000" b="1" dirty="0">
                <a:solidFill>
                  <a:schemeClr val="bg1"/>
                </a:solidFill>
                <a:latin typeface="Roboto Medium"/>
                <a:ea typeface="Roboto"/>
                <a:cs typeface="Roboto"/>
              </a:rPr>
              <a:t>Практическая 1 часть</a:t>
            </a:r>
            <a:endParaRPr dirty="0"/>
          </a:p>
        </p:txBody>
      </p:sp>
      <p:sp>
        <p:nvSpPr>
          <p:cNvPr id="6" name="TextBox 17"/>
          <p:cNvSpPr/>
          <p:nvPr/>
        </p:nvSpPr>
        <p:spPr bwMode="auto">
          <a:xfrm>
            <a:off x="335361" y="2132856"/>
            <a:ext cx="1584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latin typeface="Roboto"/>
                <a:ea typeface="Roboto"/>
                <a:cs typeface="Roboto"/>
              </a:rPr>
              <a:t>MICROSOFT EDGE</a:t>
            </a:r>
            <a:endParaRPr lang="ru-RU" dirty="0">
              <a:latin typeface="Roboto"/>
              <a:ea typeface="Roboto"/>
              <a:cs typeface="Roboto"/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23592" y="1564494"/>
            <a:ext cx="9289032" cy="4510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="" xmlns:a16="http://schemas.microsoft.com/office/drawing/2014/main" id="{C5A4AA4A-21B5-CD25-AFD3-EBA86747E515}"/>
              </a:ext>
            </a:extLst>
          </p:cNvPr>
          <p:cNvCxnSpPr>
            <a:cxnSpLocks/>
          </p:cNvCxnSpPr>
          <p:nvPr/>
        </p:nvCxnSpPr>
        <p:spPr>
          <a:xfrm>
            <a:off x="3359696" y="1916832"/>
            <a:ext cx="165618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="" xmlns:a16="http://schemas.microsoft.com/office/drawing/2014/main" id="{21354B68-E96B-EB52-F4AD-F1348E4CBDF5}"/>
              </a:ext>
            </a:extLst>
          </p:cNvPr>
          <p:cNvCxnSpPr/>
          <p:nvPr/>
        </p:nvCxnSpPr>
        <p:spPr>
          <a:xfrm>
            <a:off x="5807968" y="4077072"/>
            <a:ext cx="446449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2"/>
          <p:cNvPicPr>
            <a:picLocks noChangeAspect="1"/>
          </p:cNvPicPr>
          <p:nvPr/>
        </p:nvPicPr>
        <p:blipFill>
          <a:blip r:embed="rId2" cstate="print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3"/>
          <p:cNvSpPr/>
          <p:nvPr/>
        </p:nvSpPr>
        <p:spPr bwMode="auto">
          <a:xfrm>
            <a:off x="7883611" y="783064"/>
            <a:ext cx="4152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000" b="1" dirty="0">
                <a:solidFill>
                  <a:schemeClr val="bg1"/>
                </a:solidFill>
                <a:latin typeface="Roboto Medium"/>
                <a:ea typeface="Roboto"/>
                <a:cs typeface="Roboto"/>
              </a:rPr>
              <a:t>Практическая</a:t>
            </a:r>
            <a:r>
              <a:rPr lang="en-US" sz="2000" b="1" dirty="0">
                <a:solidFill>
                  <a:schemeClr val="bg1"/>
                </a:solidFill>
                <a:latin typeface="Roboto Medium"/>
                <a:ea typeface="Roboto"/>
                <a:cs typeface="Roboto"/>
              </a:rPr>
              <a:t> 2</a:t>
            </a:r>
            <a:r>
              <a:rPr lang="ru-RU" sz="2000" b="1" dirty="0">
                <a:solidFill>
                  <a:schemeClr val="bg1"/>
                </a:solidFill>
                <a:latin typeface="Roboto Medium"/>
                <a:ea typeface="Roboto"/>
                <a:cs typeface="Roboto"/>
              </a:rPr>
              <a:t> часть</a:t>
            </a:r>
            <a:endParaRPr dirty="0"/>
          </a:p>
        </p:txBody>
      </p:sp>
      <p:sp>
        <p:nvSpPr>
          <p:cNvPr id="6" name="TextBox 17"/>
          <p:cNvSpPr/>
          <p:nvPr/>
        </p:nvSpPr>
        <p:spPr bwMode="auto">
          <a:xfrm>
            <a:off x="335361" y="2132856"/>
            <a:ext cx="111612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latin typeface="Roboto"/>
                <a:ea typeface="Roboto"/>
                <a:cs typeface="Roboto"/>
              </a:rPr>
              <a:t>Перейдем ко второму способу. Для него нам понадобится </a:t>
            </a:r>
            <a:r>
              <a:rPr lang="en-US" dirty="0">
                <a:latin typeface="Roboto"/>
                <a:ea typeface="Roboto"/>
                <a:cs typeface="Roboto"/>
              </a:rPr>
              <a:t>Kali Linux</a:t>
            </a:r>
            <a:r>
              <a:rPr lang="ru-RU" dirty="0">
                <a:latin typeface="Roboto"/>
                <a:ea typeface="Roboto"/>
                <a:cs typeface="Roboto"/>
              </a:rPr>
              <a:t>.</a:t>
            </a:r>
          </a:p>
          <a:p>
            <a:pPr>
              <a:defRPr/>
            </a:pPr>
            <a:r>
              <a:rPr lang="ru-RU" dirty="0" err="1">
                <a:latin typeface="Roboto"/>
                <a:ea typeface="Roboto"/>
                <a:cs typeface="Roboto"/>
              </a:rPr>
              <a:t>Kali</a:t>
            </a:r>
            <a:r>
              <a:rPr lang="ru-RU" dirty="0">
                <a:latin typeface="Roboto"/>
                <a:ea typeface="Roboto"/>
                <a:cs typeface="Roboto"/>
              </a:rPr>
              <a:t> </a:t>
            </a:r>
            <a:r>
              <a:rPr lang="ru-RU" dirty="0" err="1">
                <a:latin typeface="Roboto"/>
                <a:ea typeface="Roboto"/>
                <a:cs typeface="Roboto"/>
              </a:rPr>
              <a:t>Linux</a:t>
            </a:r>
            <a:r>
              <a:rPr lang="ru-RU" dirty="0">
                <a:latin typeface="Roboto"/>
                <a:ea typeface="Roboto"/>
                <a:cs typeface="Roboto"/>
              </a:rPr>
              <a:t> — это дистрибутив операционной системы </a:t>
            </a:r>
            <a:r>
              <a:rPr lang="ru-RU" dirty="0" err="1">
                <a:latin typeface="Roboto"/>
                <a:ea typeface="Roboto"/>
                <a:cs typeface="Roboto"/>
              </a:rPr>
              <a:t>Linux</a:t>
            </a:r>
            <a:r>
              <a:rPr lang="ru-RU" dirty="0">
                <a:latin typeface="Roboto"/>
                <a:ea typeface="Roboto"/>
                <a:cs typeface="Roboto"/>
              </a:rPr>
              <a:t>, предназначенный для специалистов по информационной безопасности. Он позволяет выполнять расширенное тестирование на проникновение, находить системные уязвимости и устранять возможные лазейки для взломщиков.</a:t>
            </a:r>
          </a:p>
          <a:p>
            <a:pPr>
              <a:defRPr/>
            </a:pPr>
            <a:endParaRPr lang="ru-RU" dirty="0">
              <a:latin typeface="Roboto"/>
              <a:ea typeface="Roboto"/>
              <a:cs typeface="Roboto"/>
            </a:endParaRPr>
          </a:p>
          <a:p>
            <a:pPr>
              <a:defRPr/>
            </a:pPr>
            <a:r>
              <a:rPr lang="ru-RU" dirty="0">
                <a:latin typeface="Roboto"/>
                <a:ea typeface="Roboto"/>
                <a:cs typeface="Roboto"/>
              </a:rPr>
              <a:t>Атаку будем проводить через программу </a:t>
            </a:r>
            <a:r>
              <a:rPr lang="en-US" dirty="0" err="1">
                <a:latin typeface="Roboto"/>
                <a:ea typeface="Roboto"/>
                <a:cs typeface="Roboto"/>
              </a:rPr>
              <a:t>Bettercap</a:t>
            </a:r>
            <a:endParaRPr lang="ru-RU" dirty="0">
              <a:latin typeface="Roboto"/>
              <a:ea typeface="Roboto"/>
              <a:cs typeface="Roboto"/>
            </a:endParaRPr>
          </a:p>
        </p:txBody>
      </p:sp>
      <p:pic>
        <p:nvPicPr>
          <p:cNvPr id="27650" name="Picture 2" descr="betterca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35153" y="3772137"/>
            <a:ext cx="2828925" cy="22479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2"/>
          <p:cNvPicPr>
            <a:picLocks noChangeAspect="1"/>
          </p:cNvPicPr>
          <p:nvPr/>
        </p:nvPicPr>
        <p:blipFill>
          <a:blip r:embed="rId2" cstate="print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3"/>
          <p:cNvSpPr/>
          <p:nvPr/>
        </p:nvSpPr>
        <p:spPr bwMode="auto">
          <a:xfrm>
            <a:off x="7883611" y="783064"/>
            <a:ext cx="4152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000" b="1" dirty="0">
                <a:solidFill>
                  <a:schemeClr val="bg1"/>
                </a:solidFill>
                <a:latin typeface="Roboto Medium"/>
                <a:ea typeface="Roboto"/>
                <a:cs typeface="Roboto"/>
              </a:rPr>
              <a:t>Практическая</a:t>
            </a:r>
            <a:r>
              <a:rPr lang="en-US" sz="2000" b="1" dirty="0">
                <a:solidFill>
                  <a:schemeClr val="bg1"/>
                </a:solidFill>
                <a:latin typeface="Roboto Medium"/>
                <a:ea typeface="Roboto"/>
                <a:cs typeface="Roboto"/>
              </a:rPr>
              <a:t> 2</a:t>
            </a:r>
            <a:r>
              <a:rPr lang="ru-RU" sz="2000" b="1" dirty="0">
                <a:solidFill>
                  <a:schemeClr val="bg1"/>
                </a:solidFill>
                <a:latin typeface="Roboto Medium"/>
                <a:ea typeface="Roboto"/>
                <a:cs typeface="Roboto"/>
              </a:rPr>
              <a:t> часть</a:t>
            </a:r>
            <a:endParaRPr dirty="0"/>
          </a:p>
        </p:txBody>
      </p:sp>
      <p:sp>
        <p:nvSpPr>
          <p:cNvPr id="6" name="TextBox 17"/>
          <p:cNvSpPr/>
          <p:nvPr/>
        </p:nvSpPr>
        <p:spPr bwMode="auto">
          <a:xfrm>
            <a:off x="335361" y="2132856"/>
            <a:ext cx="676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ru-RU" dirty="0">
              <a:latin typeface="Roboto"/>
              <a:ea typeface="Roboto"/>
              <a:cs typeface="Roboto"/>
            </a:endParaRPr>
          </a:p>
        </p:txBody>
      </p:sp>
      <p:sp>
        <p:nvSpPr>
          <p:cNvPr id="9" name="TextBox 17"/>
          <p:cNvSpPr/>
          <p:nvPr/>
        </p:nvSpPr>
        <p:spPr bwMode="auto">
          <a:xfrm>
            <a:off x="335361" y="2132856"/>
            <a:ext cx="568863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latin typeface="Roboto"/>
                <a:ea typeface="Roboto"/>
                <a:cs typeface="Roboto"/>
              </a:rPr>
              <a:t>1) “</a:t>
            </a:r>
            <a:r>
              <a:rPr lang="ru-RU" dirty="0" err="1">
                <a:latin typeface="Roboto"/>
                <a:ea typeface="Roboto"/>
                <a:cs typeface="Roboto"/>
              </a:rPr>
              <a:t>net.probe</a:t>
            </a:r>
            <a:r>
              <a:rPr lang="ru-RU" dirty="0">
                <a:latin typeface="Roboto"/>
                <a:ea typeface="Roboto"/>
                <a:cs typeface="Roboto"/>
              </a:rPr>
              <a:t> </a:t>
            </a:r>
            <a:r>
              <a:rPr lang="ru-RU" dirty="0" err="1">
                <a:latin typeface="Roboto"/>
                <a:ea typeface="Roboto"/>
                <a:cs typeface="Roboto"/>
              </a:rPr>
              <a:t>on</a:t>
            </a:r>
            <a:r>
              <a:rPr lang="ru-RU" dirty="0">
                <a:latin typeface="Roboto"/>
                <a:ea typeface="Roboto"/>
                <a:cs typeface="Roboto"/>
              </a:rPr>
              <a:t>” - включает функцию активного сканирования сети на наличие подключенных устройств. </a:t>
            </a:r>
          </a:p>
          <a:p>
            <a:pPr>
              <a:defRPr/>
            </a:pPr>
            <a:r>
              <a:rPr lang="ru-RU" dirty="0">
                <a:latin typeface="Roboto"/>
                <a:ea typeface="Roboto"/>
                <a:cs typeface="Roboto"/>
              </a:rPr>
              <a:t>2) “</a:t>
            </a:r>
            <a:r>
              <a:rPr lang="ru-RU" dirty="0" err="1">
                <a:latin typeface="Roboto"/>
                <a:ea typeface="Roboto"/>
                <a:cs typeface="Roboto"/>
              </a:rPr>
              <a:t>set</a:t>
            </a:r>
            <a:r>
              <a:rPr lang="ru-RU" dirty="0">
                <a:latin typeface="Roboto"/>
                <a:ea typeface="Roboto"/>
                <a:cs typeface="Roboto"/>
              </a:rPr>
              <a:t> </a:t>
            </a:r>
            <a:r>
              <a:rPr lang="ru-RU" dirty="0" err="1">
                <a:latin typeface="Roboto"/>
                <a:ea typeface="Roboto"/>
                <a:cs typeface="Roboto"/>
              </a:rPr>
              <a:t>arp.spoof.fullduplex</a:t>
            </a:r>
            <a:r>
              <a:rPr lang="ru-RU" dirty="0">
                <a:latin typeface="Roboto"/>
                <a:ea typeface="Roboto"/>
                <a:cs typeface="Roboto"/>
              </a:rPr>
              <a:t> </a:t>
            </a:r>
            <a:r>
              <a:rPr lang="ru-RU" dirty="0" err="1">
                <a:latin typeface="Roboto"/>
                <a:ea typeface="Roboto"/>
                <a:cs typeface="Roboto"/>
              </a:rPr>
              <a:t>true</a:t>
            </a:r>
            <a:r>
              <a:rPr lang="ru-RU" dirty="0">
                <a:latin typeface="Roboto"/>
                <a:ea typeface="Roboto"/>
                <a:cs typeface="Roboto"/>
              </a:rPr>
              <a:t>” - настраивает атаку в особом режиме. Атакующий сможет прослушивать и подменять трафик как от жертвы к шлюзу, так и от шлюза к жертве.</a:t>
            </a:r>
          </a:p>
          <a:p>
            <a:pPr>
              <a:defRPr/>
            </a:pPr>
            <a:r>
              <a:rPr lang="ru-RU" dirty="0">
                <a:latin typeface="Roboto"/>
                <a:ea typeface="Roboto"/>
                <a:cs typeface="Roboto"/>
              </a:rPr>
              <a:t>3) “</a:t>
            </a:r>
            <a:r>
              <a:rPr lang="ru-RU" dirty="0" err="1">
                <a:latin typeface="Roboto"/>
                <a:ea typeface="Roboto"/>
                <a:cs typeface="Roboto"/>
              </a:rPr>
              <a:t>set</a:t>
            </a:r>
            <a:r>
              <a:rPr lang="ru-RU" dirty="0">
                <a:latin typeface="Roboto"/>
                <a:ea typeface="Roboto"/>
                <a:cs typeface="Roboto"/>
              </a:rPr>
              <a:t> </a:t>
            </a:r>
            <a:r>
              <a:rPr lang="ru-RU" dirty="0" err="1">
                <a:latin typeface="Roboto"/>
                <a:ea typeface="Roboto"/>
                <a:cs typeface="Roboto"/>
              </a:rPr>
              <a:t>arp.spoof.targets</a:t>
            </a:r>
            <a:r>
              <a:rPr lang="ru-RU" dirty="0">
                <a:latin typeface="Roboto"/>
                <a:ea typeface="Roboto"/>
                <a:cs typeface="Roboto"/>
              </a:rPr>
              <a:t> 192.168.31.75” - устанавливает целевой IP-адрес (в данном случае, 192.168.31.75 - это адрес второго компьютера) для </a:t>
            </a:r>
            <a:r>
              <a:rPr lang="ru-RU" dirty="0" err="1">
                <a:latin typeface="Roboto"/>
                <a:ea typeface="Roboto"/>
                <a:cs typeface="Roboto"/>
              </a:rPr>
              <a:t>ARP-спуфинга</a:t>
            </a:r>
            <a:r>
              <a:rPr lang="ru-RU" dirty="0">
                <a:latin typeface="Roboto"/>
                <a:ea typeface="Roboto"/>
                <a:cs typeface="Roboto"/>
              </a:rPr>
              <a:t>. </a:t>
            </a:r>
          </a:p>
          <a:p>
            <a:pPr>
              <a:defRPr/>
            </a:pPr>
            <a:r>
              <a:rPr lang="ru-RU" dirty="0">
                <a:latin typeface="Roboto"/>
                <a:ea typeface="Roboto"/>
                <a:cs typeface="Roboto"/>
              </a:rPr>
              <a:t>4) “</a:t>
            </a:r>
            <a:r>
              <a:rPr lang="ru-RU" dirty="0" err="1">
                <a:latin typeface="Roboto"/>
                <a:ea typeface="Roboto"/>
                <a:cs typeface="Roboto"/>
              </a:rPr>
              <a:t>arp.spoof</a:t>
            </a:r>
            <a:r>
              <a:rPr lang="ru-RU" dirty="0">
                <a:latin typeface="Roboto"/>
                <a:ea typeface="Roboto"/>
                <a:cs typeface="Roboto"/>
              </a:rPr>
              <a:t> </a:t>
            </a:r>
            <a:r>
              <a:rPr lang="ru-RU" dirty="0" err="1">
                <a:latin typeface="Roboto"/>
                <a:ea typeface="Roboto"/>
                <a:cs typeface="Roboto"/>
              </a:rPr>
              <a:t>on</a:t>
            </a:r>
            <a:r>
              <a:rPr lang="ru-RU" dirty="0">
                <a:latin typeface="Roboto"/>
                <a:ea typeface="Roboto"/>
                <a:cs typeface="Roboto"/>
              </a:rPr>
              <a:t>” - активирует функцию </a:t>
            </a:r>
            <a:r>
              <a:rPr lang="ru-RU" dirty="0" err="1">
                <a:latin typeface="Roboto"/>
                <a:ea typeface="Roboto"/>
                <a:cs typeface="Roboto"/>
              </a:rPr>
              <a:t>ARP-спуфинга</a:t>
            </a:r>
            <a:r>
              <a:rPr lang="ru-RU" dirty="0">
                <a:latin typeface="Roboto"/>
                <a:ea typeface="Roboto"/>
                <a:cs typeface="Roboto"/>
              </a:rPr>
              <a:t>. </a:t>
            </a:r>
          </a:p>
          <a:p>
            <a:pPr>
              <a:defRPr/>
            </a:pPr>
            <a:r>
              <a:rPr lang="ru-RU" dirty="0">
                <a:latin typeface="Roboto"/>
                <a:ea typeface="Roboto"/>
                <a:cs typeface="Roboto"/>
              </a:rPr>
              <a:t>5) “</a:t>
            </a:r>
            <a:r>
              <a:rPr lang="ru-RU" dirty="0" err="1">
                <a:latin typeface="Roboto"/>
                <a:ea typeface="Roboto"/>
                <a:cs typeface="Roboto"/>
              </a:rPr>
              <a:t>net.sniff</a:t>
            </a:r>
            <a:r>
              <a:rPr lang="ru-RU" dirty="0">
                <a:latin typeface="Roboto"/>
                <a:ea typeface="Roboto"/>
                <a:cs typeface="Roboto"/>
              </a:rPr>
              <a:t> </a:t>
            </a:r>
            <a:r>
              <a:rPr lang="ru-RU" dirty="0" err="1">
                <a:latin typeface="Roboto"/>
                <a:ea typeface="Roboto"/>
                <a:cs typeface="Roboto"/>
              </a:rPr>
              <a:t>on</a:t>
            </a:r>
            <a:r>
              <a:rPr lang="ru-RU" dirty="0">
                <a:latin typeface="Roboto"/>
                <a:ea typeface="Roboto"/>
                <a:cs typeface="Roboto"/>
              </a:rPr>
              <a:t>” - активирует функцию перехвата и отображения пакетов, проходящих через сеть. 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2420888"/>
            <a:ext cx="5830888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2"/>
          <p:cNvPicPr>
            <a:picLocks noChangeAspect="1"/>
          </p:cNvPicPr>
          <p:nvPr/>
        </p:nvPicPr>
        <p:blipFill>
          <a:blip r:embed="rId2" cstate="print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3"/>
          <p:cNvSpPr/>
          <p:nvPr/>
        </p:nvSpPr>
        <p:spPr bwMode="auto">
          <a:xfrm>
            <a:off x="7883611" y="783064"/>
            <a:ext cx="4152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000" b="1" dirty="0">
                <a:solidFill>
                  <a:schemeClr val="bg1"/>
                </a:solidFill>
                <a:latin typeface="Roboto Medium"/>
                <a:ea typeface="Roboto"/>
                <a:cs typeface="Roboto"/>
              </a:rPr>
              <a:t>Практическая</a:t>
            </a:r>
            <a:r>
              <a:rPr lang="en-US" sz="2000" b="1" dirty="0">
                <a:solidFill>
                  <a:schemeClr val="bg1"/>
                </a:solidFill>
                <a:latin typeface="Roboto Medium"/>
                <a:ea typeface="Roboto"/>
                <a:cs typeface="Roboto"/>
              </a:rPr>
              <a:t> 2</a:t>
            </a:r>
            <a:r>
              <a:rPr lang="ru-RU" sz="2000" b="1" dirty="0">
                <a:solidFill>
                  <a:schemeClr val="bg1"/>
                </a:solidFill>
                <a:latin typeface="Roboto Medium"/>
                <a:ea typeface="Roboto"/>
                <a:cs typeface="Roboto"/>
              </a:rPr>
              <a:t> часть</a:t>
            </a:r>
            <a:endParaRPr dirty="0"/>
          </a:p>
        </p:txBody>
      </p:sp>
      <p:sp>
        <p:nvSpPr>
          <p:cNvPr id="6" name="TextBox 17"/>
          <p:cNvSpPr/>
          <p:nvPr/>
        </p:nvSpPr>
        <p:spPr bwMode="auto">
          <a:xfrm>
            <a:off x="335361" y="2132856"/>
            <a:ext cx="676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ru-RU" dirty="0">
              <a:latin typeface="Roboto"/>
              <a:ea typeface="Roboto"/>
              <a:cs typeface="Roboto"/>
            </a:endParaRPr>
          </a:p>
        </p:txBody>
      </p:sp>
      <p:sp>
        <p:nvSpPr>
          <p:cNvPr id="9" name="TextBox 17"/>
          <p:cNvSpPr/>
          <p:nvPr/>
        </p:nvSpPr>
        <p:spPr bwMode="auto">
          <a:xfrm>
            <a:off x="335361" y="2132856"/>
            <a:ext cx="41044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latin typeface="Roboto"/>
                <a:ea typeface="Roboto"/>
                <a:cs typeface="Roboto"/>
              </a:rPr>
              <a:t>Для примера возьмем сайт</a:t>
            </a:r>
            <a:r>
              <a:rPr lang="en-US" dirty="0">
                <a:latin typeface="Roboto"/>
                <a:ea typeface="Roboto"/>
                <a:cs typeface="Roboto"/>
              </a:rPr>
              <a:t>:</a:t>
            </a:r>
            <a:r>
              <a:rPr lang="ru-RU" dirty="0">
                <a:latin typeface="Roboto"/>
                <a:ea typeface="Roboto"/>
                <a:cs typeface="Roboto"/>
              </a:rPr>
              <a:t> </a:t>
            </a:r>
            <a:r>
              <a:rPr lang="ru-RU" dirty="0">
                <a:hlinkClick r:id="rId3"/>
              </a:rPr>
              <a:t>http://billing.pstu.ru/api.php?r=site/login</a:t>
            </a:r>
            <a:endParaRPr lang="ru-RU" dirty="0"/>
          </a:p>
          <a:p>
            <a:pPr>
              <a:defRPr/>
            </a:pPr>
            <a:endParaRPr lang="ru-RU" dirty="0">
              <a:latin typeface="Roboto"/>
              <a:ea typeface="Roboto"/>
              <a:cs typeface="Roboto"/>
            </a:endParaRPr>
          </a:p>
          <a:p>
            <a:pPr>
              <a:defRPr/>
            </a:pPr>
            <a:r>
              <a:rPr lang="ru-RU" dirty="0">
                <a:latin typeface="Roboto"/>
                <a:ea typeface="Roboto"/>
                <a:cs typeface="Roboto"/>
              </a:rPr>
              <a:t>Второй компьютер заходит на сайт, и вводит данные</a:t>
            </a:r>
            <a:r>
              <a:rPr lang="en-US" dirty="0">
                <a:latin typeface="Roboto"/>
                <a:ea typeface="Roboto"/>
                <a:cs typeface="Roboto"/>
              </a:rPr>
              <a:t>:</a:t>
            </a:r>
            <a:endParaRPr lang="ru-RU" dirty="0">
              <a:latin typeface="Roboto"/>
              <a:ea typeface="Roboto"/>
              <a:cs typeface="Roboto"/>
            </a:endParaRPr>
          </a:p>
          <a:p>
            <a:pPr>
              <a:defRPr/>
            </a:pPr>
            <a:r>
              <a:rPr lang="en-US" dirty="0">
                <a:latin typeface="Roboto"/>
                <a:ea typeface="Roboto"/>
                <a:cs typeface="Roboto"/>
              </a:rPr>
              <a:t>Login: user</a:t>
            </a:r>
          </a:p>
          <a:p>
            <a:pPr>
              <a:defRPr/>
            </a:pPr>
            <a:r>
              <a:rPr lang="en-US" dirty="0">
                <a:latin typeface="Roboto"/>
                <a:ea typeface="Roboto"/>
                <a:cs typeface="Roboto"/>
              </a:rPr>
              <a:t>Password: users</a:t>
            </a:r>
            <a:endParaRPr lang="ru-RU" dirty="0">
              <a:latin typeface="Roboto"/>
              <a:ea typeface="Roboto"/>
              <a:cs typeface="Roboto"/>
            </a:endParaRPr>
          </a:p>
        </p:txBody>
      </p:sp>
      <p:pic>
        <p:nvPicPr>
          <p:cNvPr id="8" name="image3.png"/>
          <p:cNvPicPr/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6672064" y="764704"/>
            <a:ext cx="4171950" cy="550545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2"/>
          <p:cNvPicPr>
            <a:picLocks noChangeAspect="1"/>
          </p:cNvPicPr>
          <p:nvPr/>
        </p:nvPicPr>
        <p:blipFill>
          <a:blip r:embed="rId2" cstate="print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3"/>
          <p:cNvSpPr/>
          <p:nvPr/>
        </p:nvSpPr>
        <p:spPr bwMode="auto">
          <a:xfrm>
            <a:off x="7883611" y="783064"/>
            <a:ext cx="4152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000" b="1" dirty="0">
                <a:solidFill>
                  <a:schemeClr val="bg1"/>
                </a:solidFill>
                <a:latin typeface="Roboto Medium"/>
                <a:ea typeface="Roboto"/>
                <a:cs typeface="Roboto"/>
              </a:rPr>
              <a:t>Практическая</a:t>
            </a:r>
            <a:r>
              <a:rPr lang="en-US" sz="2000" b="1" dirty="0">
                <a:solidFill>
                  <a:schemeClr val="bg1"/>
                </a:solidFill>
                <a:latin typeface="Roboto Medium"/>
                <a:ea typeface="Roboto"/>
                <a:cs typeface="Roboto"/>
              </a:rPr>
              <a:t> 2</a:t>
            </a:r>
            <a:r>
              <a:rPr lang="ru-RU" sz="2000" b="1" dirty="0">
                <a:solidFill>
                  <a:schemeClr val="bg1"/>
                </a:solidFill>
                <a:latin typeface="Roboto Medium"/>
                <a:ea typeface="Roboto"/>
                <a:cs typeface="Roboto"/>
              </a:rPr>
              <a:t> часть</a:t>
            </a:r>
            <a:endParaRPr dirty="0"/>
          </a:p>
        </p:txBody>
      </p:sp>
      <p:sp>
        <p:nvSpPr>
          <p:cNvPr id="6" name="TextBox 17"/>
          <p:cNvSpPr/>
          <p:nvPr/>
        </p:nvSpPr>
        <p:spPr bwMode="auto">
          <a:xfrm>
            <a:off x="335361" y="2132856"/>
            <a:ext cx="676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ru-RU" dirty="0">
              <a:latin typeface="Roboto"/>
              <a:ea typeface="Roboto"/>
              <a:cs typeface="Roboto"/>
            </a:endParaRPr>
          </a:p>
        </p:txBody>
      </p:sp>
      <p:sp>
        <p:nvSpPr>
          <p:cNvPr id="9" name="TextBox 17"/>
          <p:cNvSpPr/>
          <p:nvPr/>
        </p:nvSpPr>
        <p:spPr bwMode="auto">
          <a:xfrm>
            <a:off x="335361" y="2132856"/>
            <a:ext cx="35283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Roboto"/>
                <a:ea typeface="Roboto"/>
                <a:cs typeface="Roboto"/>
              </a:rPr>
              <a:t>С первого компьютера мы можем наблюдать данные вхождения на сайт. </a:t>
            </a:r>
          </a:p>
          <a:p>
            <a:r>
              <a:rPr lang="ru-RU" dirty="0">
                <a:latin typeface="Roboto"/>
                <a:ea typeface="Roboto"/>
                <a:cs typeface="Roboto"/>
              </a:rPr>
              <a:t>Также, с первого компьютера, мы видим логин и пароль, введенные со второго компьютера.</a:t>
            </a:r>
          </a:p>
          <a:p>
            <a:pPr>
              <a:defRPr/>
            </a:pPr>
            <a:r>
              <a:rPr lang="en-US" dirty="0">
                <a:latin typeface="Roboto"/>
                <a:ea typeface="Roboto"/>
                <a:cs typeface="Roboto"/>
              </a:rPr>
              <a:t>Login: user</a:t>
            </a:r>
          </a:p>
          <a:p>
            <a:pPr>
              <a:defRPr/>
            </a:pPr>
            <a:r>
              <a:rPr lang="en-US" dirty="0">
                <a:latin typeface="Roboto"/>
                <a:ea typeface="Roboto"/>
                <a:cs typeface="Roboto"/>
              </a:rPr>
              <a:t>Password: users</a:t>
            </a:r>
            <a:endParaRPr lang="ru-RU" dirty="0">
              <a:latin typeface="Roboto"/>
              <a:ea typeface="Roboto"/>
              <a:cs typeface="Roboto"/>
            </a:endParaRPr>
          </a:p>
        </p:txBody>
      </p:sp>
      <p:pic>
        <p:nvPicPr>
          <p:cNvPr id="7" name="image2.png"/>
          <p:cNvPicPr/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303912" y="1916832"/>
            <a:ext cx="5940115" cy="609600"/>
          </a:xfrm>
          <a:prstGeom prst="rect">
            <a:avLst/>
          </a:prstGeom>
          <a:ln/>
        </p:spPr>
      </p:pic>
      <p:pic>
        <p:nvPicPr>
          <p:cNvPr id="10" name="image5.png"/>
          <p:cNvPicPr/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5375920" y="2852936"/>
            <a:ext cx="5600700" cy="343852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2"/>
          <p:cNvPicPr>
            <a:picLocks noChangeAspect="1"/>
          </p:cNvPicPr>
          <p:nvPr/>
        </p:nvPicPr>
        <p:blipFill>
          <a:blip r:embed="rId2" cstate="print"/>
          <a:stretch/>
        </p:blipFill>
        <p:spPr bwMode="auto">
          <a:xfrm>
            <a:off x="0" y="27384"/>
            <a:ext cx="12192000" cy="6858000"/>
          </a:xfrm>
          <a:prstGeom prst="rect">
            <a:avLst/>
          </a:prstGeom>
        </p:spPr>
      </p:pic>
      <p:sp>
        <p:nvSpPr>
          <p:cNvPr id="5" name="TextBox 3"/>
          <p:cNvSpPr/>
          <p:nvPr/>
        </p:nvSpPr>
        <p:spPr bwMode="auto">
          <a:xfrm>
            <a:off x="7883611" y="783064"/>
            <a:ext cx="4152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000" b="1" dirty="0">
                <a:solidFill>
                  <a:schemeClr val="bg1"/>
                </a:solidFill>
                <a:latin typeface="Roboto Medium"/>
                <a:ea typeface="Roboto"/>
                <a:cs typeface="Roboto"/>
              </a:rPr>
              <a:t>Заключение</a:t>
            </a:r>
            <a:endParaRPr dirty="0"/>
          </a:p>
        </p:txBody>
      </p:sp>
      <p:sp>
        <p:nvSpPr>
          <p:cNvPr id="6" name="TextBox 17"/>
          <p:cNvSpPr/>
          <p:nvPr/>
        </p:nvSpPr>
        <p:spPr bwMode="auto">
          <a:xfrm>
            <a:off x="335361" y="2132856"/>
            <a:ext cx="676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ru-RU" dirty="0">
              <a:latin typeface="Roboto"/>
              <a:ea typeface="Roboto"/>
              <a:cs typeface="Roboto"/>
            </a:endParaRPr>
          </a:p>
        </p:txBody>
      </p:sp>
      <p:sp>
        <p:nvSpPr>
          <p:cNvPr id="9" name="TextBox 17"/>
          <p:cNvSpPr/>
          <p:nvPr/>
        </p:nvSpPr>
        <p:spPr bwMode="auto">
          <a:xfrm>
            <a:off x="335361" y="2132856"/>
            <a:ext cx="54726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Roboto"/>
                <a:ea typeface="Roboto"/>
                <a:cs typeface="Roboto"/>
              </a:rPr>
              <a:t>Нам удалось перехватить и прочесть </a:t>
            </a:r>
            <a:r>
              <a:rPr lang="ru-RU" dirty="0" err="1">
                <a:latin typeface="Roboto"/>
                <a:ea typeface="Roboto"/>
                <a:cs typeface="Roboto"/>
              </a:rPr>
              <a:t>http</a:t>
            </a:r>
            <a:r>
              <a:rPr lang="ru-RU" dirty="0">
                <a:latin typeface="Roboto"/>
                <a:ea typeface="Roboto"/>
                <a:cs typeface="Roboto"/>
              </a:rPr>
              <a:t> трафик без подозрения со стороны жертвы. Именно так могут поступить злоумышленники, чтобы завладеть вашими данными. Поэтому важно соблюдать правила защиты - не подключаться к непроверенным открытым общедоступным </a:t>
            </a:r>
            <a:r>
              <a:rPr lang="ru-RU" dirty="0" err="1">
                <a:latin typeface="Roboto"/>
                <a:ea typeface="Roboto"/>
                <a:cs typeface="Roboto"/>
              </a:rPr>
              <a:t>Wi-Fi</a:t>
            </a:r>
            <a:r>
              <a:rPr lang="ru-RU" dirty="0">
                <a:latin typeface="Roboto"/>
                <a:ea typeface="Roboto"/>
                <a:cs typeface="Roboto"/>
              </a:rPr>
              <a:t> точкам доступа и, также важно, заходить на сайты только с HTTPS.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="" xmlns:a16="http://schemas.microsoft.com/office/drawing/2014/main" id="{A6DBC844-4572-F0A6-9A4B-17A880551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718" y="1840706"/>
            <a:ext cx="4762499" cy="317658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81818B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12"/>
          <p:cNvPicPr>
            <a:picLocks noChangeAspect="1"/>
          </p:cNvPicPr>
          <p:nvPr/>
        </p:nvPicPr>
        <p:blipFill>
          <a:blip r:embed="rId2" cstate="print"/>
          <a:stretch/>
        </p:blipFill>
        <p:spPr bwMode="auto">
          <a:xfrm>
            <a:off x="0" y="4590066"/>
            <a:ext cx="3265849" cy="2267934"/>
          </a:xfrm>
          <a:prstGeom prst="rect">
            <a:avLst/>
          </a:prstGeom>
        </p:spPr>
      </p:pic>
      <p:pic>
        <p:nvPicPr>
          <p:cNvPr id="5" name="Рисунок 13"/>
          <p:cNvPicPr>
            <a:picLocks noChangeAspect="1"/>
          </p:cNvPicPr>
          <p:nvPr/>
        </p:nvPicPr>
        <p:blipFill>
          <a:blip r:embed="rId2" cstate="print"/>
          <a:stretch/>
        </p:blipFill>
        <p:spPr bwMode="auto">
          <a:xfrm>
            <a:off x="3287688" y="0"/>
            <a:ext cx="3287688" cy="2311080"/>
          </a:xfrm>
          <a:prstGeom prst="rect">
            <a:avLst/>
          </a:prstGeom>
        </p:spPr>
      </p:pic>
      <p:sp>
        <p:nvSpPr>
          <p:cNvPr id="6" name="TextBox 16"/>
          <p:cNvSpPr/>
          <p:nvPr/>
        </p:nvSpPr>
        <p:spPr bwMode="auto">
          <a:xfrm>
            <a:off x="7517004" y="5846324"/>
            <a:ext cx="44277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ru-RU" sz="1400" b="1" dirty="0">
                <a:solidFill>
                  <a:prstClr val="white"/>
                </a:solidFill>
                <a:latin typeface="Roboto Medium"/>
              </a:rPr>
              <a:t>Докладчики: </a:t>
            </a:r>
            <a:br>
              <a:rPr lang="ru-RU" sz="1400" b="1" dirty="0">
                <a:solidFill>
                  <a:prstClr val="white"/>
                </a:solidFill>
                <a:latin typeface="Roboto Medium"/>
              </a:rPr>
            </a:br>
            <a:r>
              <a:rPr lang="ru-RU" sz="1400" b="1" dirty="0">
                <a:solidFill>
                  <a:prstClr val="white"/>
                </a:solidFill>
                <a:latin typeface="Roboto Medium"/>
              </a:rPr>
              <a:t>Д.С. </a:t>
            </a:r>
            <a:r>
              <a:rPr lang="ru-RU" sz="1400" b="1" dirty="0" err="1">
                <a:solidFill>
                  <a:prstClr val="white"/>
                </a:solidFill>
                <a:latin typeface="Roboto Medium"/>
              </a:rPr>
              <a:t>Лоргов</a:t>
            </a:r>
            <a:r>
              <a:rPr lang="ru-RU" sz="1400" b="1" dirty="0">
                <a:solidFill>
                  <a:prstClr val="white"/>
                </a:solidFill>
                <a:latin typeface="Roboto Medium"/>
              </a:rPr>
              <a:t>, студент ИСТ-23-2б</a:t>
            </a:r>
          </a:p>
          <a:p>
            <a:pPr lvl="0">
              <a:defRPr/>
            </a:pPr>
            <a:r>
              <a:rPr lang="ru-RU" sz="1400" b="1" dirty="0">
                <a:solidFill>
                  <a:prstClr val="white"/>
                </a:solidFill>
                <a:latin typeface="Roboto Medium"/>
              </a:rPr>
              <a:t>Д.А. Кушаков, студент ИСТ-23-2б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8" name="Рисунок 8" descr="1111111.jpg"/>
          <p:cNvPicPr>
            <a:picLocks noChangeAspect="1"/>
          </p:cNvPicPr>
          <p:nvPr/>
        </p:nvPicPr>
        <p:blipFill>
          <a:blip r:embed="rId3" cstate="print"/>
          <a:stretch/>
        </p:blipFill>
        <p:spPr bwMode="auto">
          <a:xfrm>
            <a:off x="0" y="0"/>
            <a:ext cx="3278221" cy="2315183"/>
          </a:xfrm>
          <a:prstGeom prst="rect">
            <a:avLst/>
          </a:prstGeom>
        </p:spPr>
      </p:pic>
      <p:pic>
        <p:nvPicPr>
          <p:cNvPr id="9" name="Рисунок 9"/>
          <p:cNvPicPr>
            <a:picLocks noChangeAspect="1"/>
          </p:cNvPicPr>
          <p:nvPr/>
        </p:nvPicPr>
        <p:blipFill>
          <a:blip r:embed="rId4" cstate="print"/>
          <a:stretch/>
        </p:blipFill>
        <p:spPr bwMode="auto">
          <a:xfrm>
            <a:off x="9122055" y="352185"/>
            <a:ext cx="2557011" cy="649763"/>
          </a:xfrm>
          <a:prstGeom prst="rect">
            <a:avLst/>
          </a:prstGeom>
        </p:spPr>
      </p:pic>
      <p:pic>
        <p:nvPicPr>
          <p:cNvPr id="11" name="Рисунок 4"/>
          <p:cNvPicPr>
            <a:picLocks noChangeAspect="1"/>
          </p:cNvPicPr>
          <p:nvPr/>
        </p:nvPicPr>
        <p:blipFill>
          <a:blip r:embed="rId5" cstate="print"/>
          <a:stretch/>
        </p:blipFill>
        <p:spPr bwMode="auto">
          <a:xfrm>
            <a:off x="3287688" y="4581727"/>
            <a:ext cx="3270539" cy="2276273"/>
          </a:xfrm>
          <a:prstGeom prst="rect">
            <a:avLst/>
          </a:prstGeom>
        </p:spPr>
      </p:pic>
      <p:pic>
        <p:nvPicPr>
          <p:cNvPr id="12" name="Рисунок 6"/>
          <p:cNvPicPr>
            <a:picLocks noChangeAspect="1"/>
          </p:cNvPicPr>
          <p:nvPr/>
        </p:nvPicPr>
        <p:blipFill>
          <a:blip r:embed="rId6" cstate="print"/>
          <a:stretch/>
        </p:blipFill>
        <p:spPr bwMode="auto">
          <a:xfrm>
            <a:off x="0" y="4590066"/>
            <a:ext cx="3278221" cy="2267934"/>
          </a:xfrm>
          <a:prstGeom prst="rect">
            <a:avLst/>
          </a:prstGeom>
        </p:spPr>
      </p:pic>
      <p:sp>
        <p:nvSpPr>
          <p:cNvPr id="13" name="TextBox 14"/>
          <p:cNvSpPr/>
          <p:nvPr/>
        </p:nvSpPr>
        <p:spPr bwMode="auto">
          <a:xfrm>
            <a:off x="112883" y="3134038"/>
            <a:ext cx="6298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bg1"/>
                </a:solidFill>
                <a:latin typeface="Roboto Medium"/>
              </a:rPr>
              <a:t>Спасибо за внимание</a:t>
            </a:r>
            <a:endParaRPr lang="ru-RU" sz="2800" b="1" dirty="0">
              <a:solidFill>
                <a:schemeClr val="bg1"/>
              </a:solidFill>
              <a:latin typeface="Roboto Medium"/>
              <a:ea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</TotalTime>
  <Words>526</Words>
  <Application>Microsoft Office PowerPoint</Application>
  <DocSecurity>0</DocSecurity>
  <PresentationFormat>Произвольный</PresentationFormat>
  <Paragraphs>56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sega</dc:creator>
  <cp:lastModifiedBy>Имя учётки</cp:lastModifiedBy>
  <cp:revision>142</cp:revision>
  <dcterms:created xsi:type="dcterms:W3CDTF">2020-12-06T14:51:05Z</dcterms:created>
  <dcterms:modified xsi:type="dcterms:W3CDTF">2025-03-17T08:20:51Z</dcterms:modified>
  <dc:identifier/>
  <dc:language/>
  <cp:version/>
</cp:coreProperties>
</file>